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B4C15"/>
                </a:solidFill>
                <a:latin typeface="Yu Gothic UI"/>
              </a:rPr>
              <a:t>FAMBOX FLYWHEEL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B1D1A"/>
                </a:solidFill>
                <a:latin typeface="Yu Gothic UI"/>
              </a:rPr>
              <a:t>FAMBOX Design Flywheel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>
                <a:solidFill>
                  <a:srgbClr val="0F2A5C"/>
                </a:solidFill>
                <a:latin typeface="Yu Gothic UI"/>
              </a:rPr>
              <a:t>Week 1 進捗共有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45655"/>
                </a:solidFill>
                <a:latin typeface="Yu Gothic UI"/>
              </a:rPr>
              <a:t>誰でも 7割の質のアウトプットを早く出せる、AI と Design の仕組みを作る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852160"/>
            <a:ext cx="457200" cy="457200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5852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2026-05-30  金曜事業開発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61264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発表 / 宮川真道（ARCHECO）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6858000" y="0"/>
            <a:ext cx="5333695" cy="6858000"/>
          </a:xfrm>
          <a:prstGeom prst="rtTriangle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B4C15"/>
                </a:solidFill>
                <a:latin typeface="Yu Gothic UI"/>
              </a:rPr>
              <a:t>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6217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B1D1A"/>
                </a:solidFill>
                <a:latin typeface="Yu Gothic UI"/>
              </a:rPr>
              <a:t>誰でも 7割の質の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217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B1D1A"/>
                </a:solidFill>
                <a:latin typeface="Yu Gothic UI"/>
              </a:rPr>
              <a:t>アウトプットを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6217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B4C15"/>
                </a:solidFill>
                <a:latin typeface="Yu Gothic UI"/>
              </a:rPr>
              <a:t>早く出せる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6217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545655"/>
                </a:solidFill>
                <a:latin typeface="Yu Gothic UI"/>
              </a:rPr>
              <a:t>AI と Design の仕組み(インフラ)を作る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486400"/>
            <a:ext cx="73152" cy="548640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1D1A"/>
                </a:solidFill>
                <a:latin typeface="Yu Gothic UI"/>
              </a:rPr>
              <a:t>Marc と同じ目標、領域だけ違う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Marc: Wide &amp; Fast  /  宮川: Middle &amp; Fast (FAM 群)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B4C15"/>
                </a:solidFill>
                <a:latin typeface="Yu Gothic UI"/>
              </a:rPr>
              <a:t>WEEK 1 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B1D1A"/>
                </a:solidFill>
                <a:latin typeface="Yu Gothic UI"/>
              </a:rPr>
              <a:t>今週やったこと — 3つ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74519"/>
            <a:ext cx="1097280" cy="54864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3520440" cy="3840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3520440" cy="164592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B4C15"/>
                </a:solidFill>
                <a:latin typeface="Yu Gothic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2788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1D1A"/>
                </a:solidFill>
                <a:latin typeface="Yu Gothic UI"/>
              </a:rPr>
              <a:t>構想の言語化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434840"/>
            <a:ext cx="548640" cy="36576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Purpose・Goal Image・3段階モデルを確定。</a:t>
            </a:r>
          </a:p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Middle &amp; Fast ポジショニングで</a:t>
            </a:r>
          </a:p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Marc と peer 関係を設計。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377440"/>
            <a:ext cx="3520440" cy="3840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377440"/>
            <a:ext cx="3520440" cy="164592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788920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F2A5C"/>
                </a:solidFill>
                <a:latin typeface="Yu Gothic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749039"/>
            <a:ext cx="2788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1D1A"/>
                </a:solidFill>
                <a:latin typeface="Yu Gothic UI"/>
              </a:rPr>
              <a:t>永続化基盤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4434840"/>
            <a:ext cx="548640" cy="36576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4663440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docs/okr/fambox-flywheel/ に</a:t>
            </a:r>
          </a:p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プロジェクト全体を整備。</a:t>
            </a:r>
          </a:p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意思決定 25 / 議事録 / 進捗管理。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377440"/>
            <a:ext cx="3520440" cy="3840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2377440"/>
            <a:ext cx="3520440" cy="164592"/>
          </a:xfrm>
          <a:prstGeom prst="rect">
            <a:avLst/>
          </a:prstGeom>
          <a:solidFill>
            <a:srgbClr val="3D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2788920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DB8E8"/>
                </a:solidFill>
                <a:latin typeface="Yu Gothic U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749039"/>
            <a:ext cx="2788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B1D1A"/>
                </a:solidFill>
                <a:latin typeface="Yu Gothic UI"/>
              </a:rPr>
              <a:t>環境棚卸し + Marc 接続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5360" y="4434840"/>
            <a:ext cx="548640" cy="36576"/>
          </a:xfrm>
          <a:prstGeom prst="rect">
            <a:avLst/>
          </a:prstGeom>
          <a:solidFill>
            <a:srgbClr val="3D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4663440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DS v0.5 / bugs.md / LPB v4.1 /</a:t>
            </a:r>
          </a:p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Brand DNA / Skills 19本を文書化。</a:t>
            </a:r>
          </a:p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Marc に共有 → 深いレビュー獲得。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→ 詳しくは docs/okr/fambox-flywheel/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Yu Gothic UI"/>
              </a:rPr>
              <a:t>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36576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>
                <a:solidFill>
                  <a:srgbClr val="FFFFFF"/>
                </a:solidFill>
                <a:latin typeface="Yu Gothic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2011680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B4C15"/>
                </a:solidFill>
                <a:latin typeface="Yu Gothic UI"/>
              </a:rPr>
              <a:t>今週の最大の収穫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560320"/>
            <a:ext cx="6217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B1D1A"/>
                </a:solidFill>
                <a:latin typeface="Yu Gothic UI"/>
              </a:rPr>
              <a:t>Marc との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3474720"/>
            <a:ext cx="6217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B1D1A"/>
                </a:solidFill>
                <a:latin typeface="Yu Gothic UI"/>
              </a:rPr>
              <a:t>peer 関係構築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4572000"/>
            <a:ext cx="1371600" cy="54864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4846320"/>
            <a:ext cx="62179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45655"/>
                </a:solidFill>
                <a:latin typeface="Yu Gothic UI"/>
              </a:rPr>
              <a:t>Slack で構想共有 →</a:t>
            </a:r>
          </a:p>
          <a:p>
            <a:pPr algn="l"/>
            <a:r>
              <a:rPr sz="1600" b="0">
                <a:solidFill>
                  <a:srgbClr val="545655"/>
                </a:solidFill>
                <a:latin typeface="Yu Gothic UI"/>
              </a:rPr>
              <a:t>1日でディープなレビュー →</a:t>
            </a:r>
          </a:p>
          <a:p>
            <a:pPr algn="l"/>
            <a:r>
              <a:rPr sz="1600" b="0">
                <a:solidFill>
                  <a:srgbClr val="545655"/>
                </a:solidFill>
                <a:latin typeface="Yu Gothic UI"/>
              </a:rPr>
              <a:t>5 つの改善提案 → 全部反映済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B4C15"/>
                </a:solidFill>
                <a:latin typeface="Yu Gothic UI"/>
              </a:rPr>
              <a:t>MARC PEER REVIEW — VALIDATED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D1A"/>
                </a:solidFill>
                <a:latin typeface="Yu Gothic UI"/>
              </a:rPr>
              <a:t>Marc がそのまま使えると評価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45655"/>
                </a:solidFill>
                <a:latin typeface="Yu Gothic UI"/>
              </a:rPr>
              <a:t>「自分も採用したい」3つの要素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40280"/>
            <a:ext cx="1097280" cy="54864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606040"/>
            <a:ext cx="3520440" cy="36576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606040"/>
            <a:ext cx="3520440" cy="164592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914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B4C15"/>
                </a:solidFill>
                <a:latin typeface="Yu Gothic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D1A"/>
                </a:solidFill>
                <a:latin typeface="Yu Gothic UI"/>
              </a:rPr>
              <a:t>Brand / Engine /</a:t>
            </a:r>
          </a:p>
          <a:p>
            <a:pPr algn="l"/>
            <a:r>
              <a:rPr sz="1600" b="1">
                <a:solidFill>
                  <a:srgbClr val="1B1D1A"/>
                </a:solidFill>
                <a:latin typeface="Yu Gothic UI"/>
              </a:rPr>
              <a:t>Data 分離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983480"/>
            <a:ext cx="2788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「excellent」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— Marc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/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3 層アーキテクチャは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Marc 自身が Archeco で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構築中の構造と一致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606040"/>
            <a:ext cx="3520440" cy="36576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606040"/>
            <a:ext cx="3520440" cy="164592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3017520"/>
            <a:ext cx="914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2A5C"/>
                </a:solidFill>
                <a:latin typeface="Yu Gothic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79476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D1A"/>
                </a:solidFill>
                <a:latin typeface="Yu Gothic UI"/>
              </a:rPr>
              <a:t>D-NNN</a:t>
            </a:r>
          </a:p>
          <a:p>
            <a:pPr algn="l"/>
            <a:r>
              <a:rPr sz="1600" b="1">
                <a:solidFill>
                  <a:srgbClr val="1B1D1A"/>
                </a:solidFill>
                <a:latin typeface="Yu Gothic UI"/>
              </a:rPr>
              <a:t>意思決定ログ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4983480"/>
            <a:ext cx="2788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「自分のより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構造化されている」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— Marc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/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Archeco の EXTERNAL-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INFLUENCES.md に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参考候補追加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606040"/>
            <a:ext cx="3520440" cy="36576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606040"/>
            <a:ext cx="3520440" cy="164592"/>
          </a:xfrm>
          <a:prstGeom prst="rect">
            <a:avLst/>
          </a:prstGeom>
          <a:solidFill>
            <a:srgbClr val="3D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3017520"/>
            <a:ext cx="914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3DB8E8"/>
                </a:solidFill>
                <a:latin typeface="Yu Gothic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79476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D1A"/>
                </a:solidFill>
                <a:latin typeface="Yu Gothic UI"/>
              </a:rPr>
              <a:t>bugs.md</a:t>
            </a:r>
          </a:p>
          <a:p>
            <a:pPr algn="l"/>
            <a:r>
              <a:rPr sz="1600" b="1">
                <a:solidFill>
                  <a:srgbClr val="1B1D1A"/>
                </a:solidFill>
                <a:latin typeface="Yu Gothic UI"/>
              </a:rPr>
              <a:t>（28 規律）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983480"/>
            <a:ext cx="2788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「the real Learn loop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lives there」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— Marc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/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FAMBOX 品質の中核と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Marc が最重要視。</a:t>
            </a:r>
          </a:p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失敗 → ルール化のループ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B4C15"/>
                </a:solidFill>
                <a:latin typeface="Yu Gothic UI"/>
              </a:rPr>
              <a:t>MARC PEER REVIEW — ADOPTED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B1D1A"/>
                </a:solidFill>
                <a:latin typeface="Yu Gothic UI"/>
              </a:rPr>
              <a:t>Marc の改善提案 → 全部今日中に反映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45655"/>
                </a:solidFill>
                <a:latin typeface="Yu Gothic UI"/>
              </a:rPr>
              <a:t>5 つの新決定（D-021 〜 D-025）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097280" cy="54864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40280"/>
            <a:ext cx="2157984" cy="41148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40280"/>
            <a:ext cx="2157984" cy="164592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B4C15"/>
                </a:solidFill>
                <a:latin typeface="Yu Gothic UI"/>
              </a:rPr>
              <a:t>D-021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170078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1D1A"/>
                </a:solidFill>
                <a:latin typeface="Yu Gothic UI"/>
              </a:rPr>
              <a:t>AI/Human</a:t>
            </a:r>
          </a:p>
          <a:p>
            <a:pPr algn="l"/>
            <a:r>
              <a:rPr sz="1300" b="1">
                <a:solidFill>
                  <a:srgbClr val="1B1D1A"/>
                </a:solidFill>
                <a:latin typeface="Yu Gothic UI"/>
              </a:rPr>
              <a:t>カテゴリ化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4434840"/>
            <a:ext cx="457200" cy="27432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617720"/>
            <a:ext cx="1700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70% / 30% パーセンテージから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「AI proposes /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Human validates /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adjusts / decides」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カテゴリベースへ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54096" y="2240280"/>
            <a:ext cx="2157984" cy="41148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54096" y="2240280"/>
            <a:ext cx="2157984" cy="164592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82696" y="2606040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5C"/>
                </a:solidFill>
                <a:latin typeface="Yu Gothic UI"/>
              </a:rPr>
              <a:t>D-022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2696" y="3200400"/>
            <a:ext cx="170078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1D1A"/>
                </a:solidFill>
                <a:latin typeface="Yu Gothic UI"/>
              </a:rPr>
              <a:t>Learn 層</a:t>
            </a:r>
          </a:p>
          <a:p>
            <a:pPr algn="l"/>
            <a:r>
              <a:rPr sz="1300" b="1">
                <a:solidFill>
                  <a:srgbClr val="1B1D1A"/>
                </a:solidFill>
                <a:latin typeface="Yu Gothic UI"/>
              </a:rPr>
              <a:t>Step 1 から保護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82696" y="4434840"/>
            <a:ext cx="457200" cy="27432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2696" y="4617720"/>
            <a:ext cx="1700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「速くなるが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学習しなくなる」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リスクへの対策。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金曜発表に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「今週の Learn 進捗」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恒久項目化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76672" y="2240280"/>
            <a:ext cx="2157984" cy="41148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76672" y="2240280"/>
            <a:ext cx="2157984" cy="164592"/>
          </a:xfrm>
          <a:prstGeom prst="rect">
            <a:avLst/>
          </a:prstGeom>
          <a:solidFill>
            <a:srgbClr val="3D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2606040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DB8E8"/>
                </a:solidFill>
                <a:latin typeface="Yu Gothic UI"/>
              </a:rPr>
              <a:t>D-023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05272" y="3200400"/>
            <a:ext cx="170078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1D1A"/>
                </a:solidFill>
                <a:latin typeface="Yu Gothic UI"/>
              </a:rPr>
              <a:t>DNA</a:t>
            </a:r>
          </a:p>
          <a:p>
            <a:pPr algn="l"/>
            <a:r>
              <a:rPr sz="1300" b="1">
                <a:solidFill>
                  <a:srgbClr val="1B1D1A"/>
                </a:solidFill>
                <a:latin typeface="Yu Gothic UI"/>
              </a:rPr>
              <a:t>Evolution</a:t>
            </a:r>
          </a:p>
          <a:p>
            <a:pPr algn="l"/>
            <a:r>
              <a:rPr sz="1300" b="1">
                <a:solidFill>
                  <a:srgbClr val="1B1D1A"/>
                </a:solidFill>
                <a:latin typeface="Yu Gothic UI"/>
              </a:rPr>
              <a:t>Triggers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5272" y="4434840"/>
            <a:ext cx="457200" cy="27432"/>
          </a:xfrm>
          <a:prstGeom prst="rect">
            <a:avLst/>
          </a:prstGeom>
          <a:solidFill>
            <a:srgbClr val="3D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05272" y="4617720"/>
            <a:ext cx="1700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v1.0 化石化防止。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「いつ v1.1 / v2.0 に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上げるか」を明文化。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半年に1回検査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99248" y="2240280"/>
            <a:ext cx="2157984" cy="41148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2240280"/>
            <a:ext cx="2157984" cy="164592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7848" y="2606040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B4C15"/>
                </a:solidFill>
                <a:latin typeface="Yu Gothic UI"/>
              </a:rPr>
              <a:t>D-024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7848" y="3200400"/>
            <a:ext cx="170078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1D1A"/>
                </a:solidFill>
                <a:latin typeface="Yu Gothic UI"/>
              </a:rPr>
              <a:t>brand/fambox/</a:t>
            </a:r>
          </a:p>
          <a:p>
            <a:pPr algn="l"/>
            <a:r>
              <a:rPr sz="1300" b="1">
                <a:solidFill>
                  <a:srgbClr val="1B1D1A"/>
                </a:solidFill>
                <a:latin typeface="Yu Gothic UI"/>
              </a:rPr>
              <a:t>CLAUDE.md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7848" y="4434840"/>
            <a:ext cx="457200" cy="27432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7848" y="4617720"/>
            <a:ext cx="1700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Marc の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_TEMPLATE/CLAUDE.md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パターン採用。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本日 v0.1 作成済。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非デザイナーの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読む単一ファイル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1824" y="2240280"/>
            <a:ext cx="2157984" cy="41148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21824" y="2240280"/>
            <a:ext cx="2157984" cy="164592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50424" y="2606040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5C"/>
                </a:solidFill>
                <a:latin typeface="Yu Gothic UI"/>
              </a:rPr>
              <a:t>D-025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0424" y="3200400"/>
            <a:ext cx="170078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B1D1A"/>
                </a:solidFill>
                <a:latin typeface="Yu Gothic UI"/>
              </a:rPr>
              <a:t>Marc</a:t>
            </a:r>
          </a:p>
          <a:p>
            <a:pPr algn="l"/>
            <a:r>
              <a:rPr sz="1300" b="1">
                <a:solidFill>
                  <a:srgbClr val="1B1D1A"/>
                </a:solidFill>
                <a:latin typeface="Yu Gothic UI"/>
              </a:rPr>
              <a:t>コラボ受諾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50424" y="4434840"/>
            <a:ext cx="457200" cy="27432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50424" y="4617720"/>
            <a:ext cx="1700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Archeco repo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read 権限獲得。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v7.32〜v7.37 の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最新仕様を</a:t>
            </a:r>
          </a:p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直接学習可能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→ 詳細は docs/okr/fambox-flywheel/DECISIONS.md  D-021〜D-025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3657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0" b="1">
                <a:solidFill>
                  <a:srgbClr val="FB4C15"/>
                </a:solidFill>
                <a:latin typeface="Yu Gothic UI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B4C15"/>
                </a:solidFill>
                <a:latin typeface="Yu Gothic UI"/>
              </a:rPr>
              <a:t>FROM MARC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1B1D1A"/>
                </a:solidFill>
                <a:latin typeface="Yu Gothic UI"/>
              </a:rPr>
              <a:t>Different problems,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6060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1B1D1A"/>
                </a:solidFill>
                <a:latin typeface="Yu Gothic UI"/>
              </a:rPr>
              <a:t>but all orbiting the same challenge: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474720"/>
            <a:ext cx="8686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FB4C15"/>
                </a:solidFill>
                <a:latin typeface="Yu Gothic UI"/>
              </a:rPr>
              <a:t>making decisions explicit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4297680"/>
            <a:ext cx="8686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FB4C15"/>
                </a:solidFill>
                <a:latin typeface="Yu Gothic UI"/>
              </a:rPr>
              <a:t>and transmissible.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5486400"/>
            <a:ext cx="1371600" cy="54864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56692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D1A"/>
                </a:solidFill>
                <a:latin typeface="Yu Gothic UI"/>
              </a:rPr>
              <a:t>Marc-Antoine Lecat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603504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ARCHECO / 2026-05-28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→ 3つのシステムが補完関係で進化（宮川 / 稲井 / Marc）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B4C15"/>
                </a:solidFill>
                <a:latin typeface="Yu Gothic UI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D1A"/>
                </a:solidFill>
                <a:latin typeface="Yu Gothic UI"/>
              </a:rPr>
              <a:t>ポジショニング — Middle &amp;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45655"/>
                </a:solidFill>
                <a:latin typeface="Yu Gothic UI"/>
              </a:rPr>
              <a:t>Marc とは領域が違うだけ、目標は同じ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40280"/>
            <a:ext cx="1097280" cy="54864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651760"/>
            <a:ext cx="5440680" cy="457200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2491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Yu Gothic UI"/>
              </a:rPr>
              <a:t>Marc-Antoine Lecat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108960"/>
            <a:ext cx="5440680" cy="34747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38328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2A5C"/>
                </a:solidFill>
                <a:latin typeface="Yu Gothic UI"/>
              </a:rPr>
              <a:t>Wide &amp; Fast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233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B1D1A"/>
                </a:solidFill>
                <a:latin typeface="Yu Gothic UI"/>
              </a:rPr>
              <a:t>多サービスに浅く広く、量産プロトタイプ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63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• 多数サービスを横断するシステム化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83479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• テンプレ・パターンで秒生成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• 明文化された型を共有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623559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• ARCHECO 右側（パンケーキ・新規）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2651760"/>
            <a:ext cx="5440680" cy="457200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72491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Yu Gothic UI"/>
              </a:rPr>
              <a:t>宮川（私）★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3108960"/>
            <a:ext cx="5440680" cy="34747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338328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B4C15"/>
                </a:solidFill>
                <a:latin typeface="Yu Gothic UI"/>
              </a:rPr>
              <a:t>Middle &amp; Fast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40233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1B1D1A"/>
                </a:solidFill>
                <a:latin typeface="Yu Gothic UI"/>
              </a:rPr>
              <a:t>FAM など関連ブランド群に深く、ただし速く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663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• 1ブランド固定でなく関連群（FAM / 将来）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4983479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• Marc の環境・プロンプト技術を翻訳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530352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• FAM の暗黙知を明文化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5623559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45655"/>
                </a:solidFill>
                <a:latin typeface="Yu Gothic UI"/>
              </a:rPr>
              <a:t>• ARCHECO 左側（FAM 01・既存）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6751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B4C15"/>
                </a:solidFill>
                <a:latin typeface="Yu Gothic UI"/>
              </a:rPr>
              <a:t>共通：環境・プロンプト技術を共有。ブランド固有データだけ別管理。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B4C15"/>
                </a:solidFill>
                <a:latin typeface="Yu Gothic UI"/>
              </a:rPr>
              <a:t>3-STEP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D1A"/>
                </a:solidFill>
                <a:latin typeface="Yu Gothic UI"/>
              </a:rPr>
              <a:t>3段階モデル — Step 1 から積み上げる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45655"/>
                </a:solidFill>
                <a:latin typeface="Yu Gothic UI"/>
              </a:rPr>
              <a:t>須藤さん提案を採用。「3段階目から始めない」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40280"/>
            <a:ext cx="1097280" cy="54864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606040"/>
            <a:ext cx="3520440" cy="3840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606040"/>
            <a:ext cx="3520440" cy="164592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B4C15"/>
                </a:solidFill>
                <a:latin typeface="Yu Gothic UI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2788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B1D1A"/>
                </a:solidFill>
                <a:latin typeface="Yu Gothic UI"/>
              </a:rPr>
              <a:t>私個人のインフラ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45655"/>
                </a:solidFill>
                <a:latin typeface="Yu Gothic UI"/>
              </a:rPr>
              <a:t>〜 2026-07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800600"/>
            <a:ext cx="548640" cy="36576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937760"/>
            <a:ext cx="2788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10倍速で作れる状態。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Marc から環境・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プロンプト技術を学び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FAM 用に翻訳。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/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• AI proposes 70%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• Human validates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2606040"/>
            <a:ext cx="3520440" cy="3840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2606040"/>
            <a:ext cx="3520440" cy="164592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9718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A5C"/>
                </a:solidFill>
                <a:latin typeface="Yu Gothic UI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520440"/>
            <a:ext cx="2788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B1D1A"/>
                </a:solidFill>
                <a:latin typeface="Yu Gothic UI"/>
              </a:rPr>
              <a:t>指示書ドライブ運用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38912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45655"/>
                </a:solidFill>
                <a:latin typeface="Yu Gothic UI"/>
              </a:rPr>
              <a:t>〜 2026-10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4800600"/>
            <a:ext cx="548640" cy="36576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4937760"/>
            <a:ext cx="2788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須藤・松浦・三宅・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マレル・安原さんが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Slack で指示書を書く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→ 数時間で初稿。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/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• Standard 形式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• 週5件想定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606040"/>
            <a:ext cx="3520440" cy="3840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2606040"/>
            <a:ext cx="3520440" cy="164592"/>
          </a:xfrm>
          <a:prstGeom prst="rect">
            <a:avLst/>
          </a:prstGeom>
          <a:solidFill>
            <a:srgbClr val="3D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29718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B8E8"/>
                </a:solidFill>
                <a:latin typeface="Yu Gothic UI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520440"/>
            <a:ext cx="2788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1B1D1A"/>
                </a:solidFill>
                <a:latin typeface="Yu Gothic UI"/>
              </a:rPr>
              <a:t>誰でも使える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38912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45655"/>
                </a:solidFill>
                <a:latin typeface="Yu Gothic UI"/>
              </a:rPr>
              <a:t>〜 2027-Q1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95360" y="4800600"/>
            <a:ext cx="548640" cy="36576"/>
          </a:xfrm>
          <a:prstGeom prst="rect">
            <a:avLst/>
          </a:prstGeom>
          <a:solidFill>
            <a:srgbClr val="3D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4937760"/>
            <a:ext cx="2788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Flywheel MVP 完成。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7割の質が誰でも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早く出せる。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3割は各人が詰める。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/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= 事業のスケール上限を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外す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274820" y="4389120"/>
            <a:ext cx="182880" cy="274320"/>
          </a:xfrm>
          <a:prstGeom prst="rightArrow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8023860" y="4389120"/>
            <a:ext cx="182880" cy="274320"/>
          </a:xfrm>
          <a:prstGeom prst="rightArrow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583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B4C15"/>
                </a:solidFill>
                <a:latin typeface="Yu Gothic UI"/>
              </a:rPr>
              <a:t>★ 今週は Step 1 のスタート地点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B4C15"/>
                </a:solidFill>
                <a:latin typeface="Yu Gothic UI"/>
              </a:rPr>
              <a:t>WEEK 2 COMMITMENTS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D1A"/>
                </a:solidFill>
                <a:latin typeface="Yu Gothic UI"/>
              </a:rPr>
              <a:t>Week 2 コミット（2026-06-01 〜 06-05）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45655"/>
                </a:solidFill>
                <a:latin typeface="Yu Gothic UI"/>
              </a:rPr>
              <a:t>実案件着手。Before / After の実例を見せる週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40280"/>
            <a:ext cx="1097280" cy="54864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606040"/>
            <a:ext cx="3520440" cy="3840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606040"/>
            <a:ext cx="3520440" cy="164592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B4C15"/>
                </a:solidFill>
                <a:latin typeface="Yu Gothic UI"/>
              </a:rPr>
              <a:t>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1D1A"/>
                </a:solidFill>
                <a:latin typeface="Yu Gothic UI"/>
              </a:rPr>
              <a:t>Marc Archeco repo</a:t>
            </a:r>
          </a:p>
          <a:p>
            <a:pPr algn="l"/>
            <a:r>
              <a:rPr sz="1700" b="1">
                <a:solidFill>
                  <a:srgbClr val="1B1D1A"/>
                </a:solidFill>
                <a:latin typeface="Yu Gothic UI"/>
              </a:rPr>
              <a:t>読み込み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4937760"/>
            <a:ext cx="548640" cy="36576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074920"/>
            <a:ext cx="2788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コラボ招待が来たら受諾。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Surfaces 概念 + 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_TEMPLATE/CLAUDE.md を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読んで、FAMBOX の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CLAUDE.md v0.2 へ進化。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59" y="2606040"/>
            <a:ext cx="3520440" cy="3840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2606040"/>
            <a:ext cx="3520440" cy="164592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9718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2A5C"/>
                </a:solidFill>
                <a:latin typeface="Yu Gothic UI"/>
              </a:rPr>
              <a:t>火-木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61188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1D1A"/>
                </a:solidFill>
                <a:latin typeface="Yu Gothic UI"/>
              </a:rPr>
              <a:t>法人ページ 1セクション</a:t>
            </a:r>
          </a:p>
          <a:p>
            <a:pPr algn="l"/>
            <a:r>
              <a:rPr sz="1700" b="1">
                <a:solidFill>
                  <a:srgbClr val="1B1D1A"/>
                </a:solidFill>
                <a:latin typeface="Yu Gothic UI"/>
              </a:rPr>
              <a:t>AI パイプライン制作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4937760"/>
            <a:ext cx="548640" cy="36576"/>
          </a:xfrm>
          <a:prstGeom prst="rect">
            <a:avLst/>
          </a:prstGeom>
          <a:solidFill>
            <a:srgbClr val="0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5074920"/>
            <a:ext cx="2788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松浦さんと相談して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セクション選定。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AI で初稿生成 →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制作時間ログ取得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(Before / After)。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2606040"/>
            <a:ext cx="3520440" cy="3840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2606040"/>
            <a:ext cx="3520440" cy="164592"/>
          </a:xfrm>
          <a:prstGeom prst="rect">
            <a:avLst/>
          </a:prstGeom>
          <a:solidFill>
            <a:srgbClr val="3D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297180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B8E8"/>
                </a:solidFill>
                <a:latin typeface="Yu Gothic UI"/>
              </a:rPr>
              <a:t>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611880"/>
            <a:ext cx="2788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1D1A"/>
                </a:solidFill>
                <a:latin typeface="Yu Gothic UI"/>
              </a:rPr>
              <a:t>Before / After 報告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4937760"/>
            <a:ext cx="548640" cy="36576"/>
          </a:xfrm>
          <a:prstGeom prst="rect">
            <a:avLst/>
          </a:prstGeom>
          <a:solidFill>
            <a:srgbClr val="3D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5074920"/>
            <a:ext cx="2788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事業開発で発表：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「○時間 → ○時間に短縮」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の実例を見せる。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/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Learn 進捗も恒久項目で</a:t>
            </a:r>
          </a:p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報告開始。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83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2A5C"/>
                </a:solidFill>
                <a:latin typeface="Yu Gothic UI"/>
              </a:rPr>
              <a:t>→ Slack で「これ作って」依頼があれば Step 2 試作の起点に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B4C15"/>
                </a:solidFill>
                <a:latin typeface="Yu Gothic UI"/>
              </a:rPr>
              <a:t>Q&amp;A PREPARED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D1A"/>
                </a:solidFill>
                <a:latin typeface="Yu Gothic UI"/>
              </a:rPr>
              <a:t>想定 Q&amp;A — 9件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45655"/>
                </a:solidFill>
                <a:latin typeface="Yu Gothic UI"/>
              </a:rPr>
              <a:t>詳細回答は friday-presentation v2 §6 参照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40280"/>
            <a:ext cx="1097280" cy="54864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697480"/>
            <a:ext cx="640080" cy="365760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3405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75234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1D1A"/>
                </a:solidFill>
                <a:latin typeface="Yu Gothic UI"/>
              </a:rPr>
              <a:t>マレルチームは結局どこで関わる？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36392"/>
            <a:ext cx="640080" cy="365760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1729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19125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1D1A"/>
                </a:solidFill>
                <a:latin typeface="Yu Gothic UI"/>
              </a:rPr>
              <a:t>3段階モデル、本当に2027 Q1 完成？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575304"/>
            <a:ext cx="640080" cy="365760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11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6301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1D1A"/>
                </a:solidFill>
                <a:latin typeface="Yu Gothic UI"/>
              </a:rPr>
              <a:t>Marc と被るんじゃない？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14216"/>
            <a:ext cx="640080" cy="365760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50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06908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1D1A"/>
                </a:solidFill>
                <a:latin typeface="Yu Gothic UI"/>
              </a:rPr>
              <a:t>英語の壁、本当に問題ない？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453128"/>
            <a:ext cx="640080" cy="365760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48970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Q5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50799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1D1A"/>
                </a:solidFill>
                <a:latin typeface="Yu Gothic UI"/>
              </a:rPr>
              <a:t>Tier 1 cleanup ブランチは？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2697480"/>
            <a:ext cx="640080" cy="365760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73405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Q6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75234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1D1A"/>
                </a:solidFill>
                <a:latin typeface="Yu Gothic UI"/>
              </a:rPr>
              <a:t>これ、いつ収益化される？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3136392"/>
            <a:ext cx="640080" cy="365760"/>
          </a:xfrm>
          <a:prstGeom prst="rect">
            <a:avLst/>
          </a:prstGeom>
          <a:solidFill>
            <a:srgbClr val="3D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1729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Q7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19125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1D1A"/>
                </a:solidFill>
                <a:latin typeface="Yu Gothic UI"/>
              </a:rPr>
              <a:t>Learn 層 Step 1 から、具体的に？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319125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DB8E8"/>
                </a:solidFill>
                <a:latin typeface="Yu Gothic UI"/>
              </a:rPr>
              <a:t>★ NEW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3575304"/>
            <a:ext cx="640080" cy="365760"/>
          </a:xfrm>
          <a:prstGeom prst="rect">
            <a:avLst/>
          </a:prstGeom>
          <a:solidFill>
            <a:srgbClr val="3D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611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Q8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36301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1D1A"/>
                </a:solidFill>
                <a:latin typeface="Yu Gothic UI"/>
              </a:rPr>
              <a:t>brand/fambox/CLAUDE.md とは？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3630168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DB8E8"/>
                </a:solidFill>
                <a:latin typeface="Yu Gothic UI"/>
              </a:rPr>
              <a:t>★ NEW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4014216"/>
            <a:ext cx="640080" cy="365760"/>
          </a:xfrm>
          <a:prstGeom prst="rect">
            <a:avLst/>
          </a:prstGeom>
          <a:solidFill>
            <a:srgbClr val="3DB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4050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 UI"/>
              </a:rPr>
              <a:t>Q9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406908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1D1A"/>
                </a:solidFill>
                <a:latin typeface="Yu Gothic UI"/>
              </a:rPr>
              <a:t>peer ネットワーク、運用は？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4069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DB8E8"/>
                </a:solidFill>
                <a:latin typeface="Yu Gothic UI"/>
              </a:rPr>
              <a:t>★ NEW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212080"/>
            <a:ext cx="10698480" cy="1280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3492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B4C15"/>
                </a:solidFill>
                <a:latin typeface="Yu Gothic UI"/>
              </a:rPr>
              <a:t>特に深掘りされそうな質問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7150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1D1A"/>
                </a:solidFill>
                <a:latin typeface="Yu Gothic UI"/>
              </a:rPr>
              <a:t>Q7「Learn 層具体策」 → bugs.md 追加 / 2回でルール化 / 月1可視化 + 金曜恒久発表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1D1A"/>
                </a:solidFill>
                <a:latin typeface="Yu Gothic UI"/>
              </a:rPr>
              <a:t>Q8「CLAUDE.md」 → Identity / Surfaces / Hard Rules / AI-Human Boundary / Vocab / Exclusions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583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45655"/>
                </a:solidFill>
                <a:latin typeface="Yu Gothic UI"/>
              </a:rPr>
              <a:t>★ NEW = Marc reply 受けて新規追加した質問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1371600"/>
            <a:ext cx="5029200" cy="4572000"/>
          </a:xfrm>
          <a:prstGeom prst="rect">
            <a:avLst/>
          </a:prstGeom>
          <a:solidFill>
            <a:srgbClr val="FB4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B4C15"/>
                </a:solidFill>
                <a:latin typeface="Yu Gothic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943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1B1D1A"/>
                </a:solidFill>
                <a:latin typeface="Yu Gothic UI"/>
              </a:rPr>
              <a:t>ご清聴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5943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1B1D1A"/>
                </a:solidFill>
                <a:latin typeface="Yu Gothic UI"/>
              </a:rPr>
              <a:t>ありがとう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5943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1B1D1A"/>
                </a:solidFill>
                <a:latin typeface="Yu Gothic UI"/>
              </a:rPr>
              <a:t>ございました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20116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 UI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2560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Yu Gothic UI"/>
              </a:rPr>
              <a:t>質疑応答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3657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Yu Gothic UI"/>
              </a:rPr>
              <a:t>想定 9件 + フリー質問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4297680"/>
            <a:ext cx="1371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45262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Yu Gothic UI"/>
              </a:rPr>
              <a:t>Slack：#int_ai でも継続歓迎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45655"/>
                </a:solidFill>
                <a:latin typeface="Yu Gothic UI"/>
              </a:rPr>
              <a:t>宮川真道 / ARCHECO / 2026-05-30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45655"/>
                </a:solidFill>
                <a:latin typeface="Yu Gothic UI"/>
              </a:rPr>
              <a:t>docs/okr/fambox-flywheel/ — 全ドキュメント公開中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