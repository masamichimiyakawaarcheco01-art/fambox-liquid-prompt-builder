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0"/>
    <p:restoredTop sz="96477"/>
  </p:normalViewPr>
  <p:slideViewPr>
    <p:cSldViewPr snapToGrid="0" snapToObjects="1">
      <p:cViewPr varScale="1">
        <p:scale>
          <a:sx n="149" d="100"/>
          <a:sy n="149" d="100"/>
        </p:scale>
        <p:origin x="9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8CE9E-3967-4C43-A888-B316F773200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128C-536B-C54F-97A7-8CD1E67D3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85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Q1：「マレルチームは結局どこで関わる？」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マレルは Step 3、2026年10月以降からの対象 です。マレル自身が既に SNS・動画コンテンツで自走しているので、私と須藤さん・松浦さんのループが回ってから接続します。早く接続しすぎると仕組みが未完成で混乱します。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Q2：「3段階モデル、本当に2027 Q1 で完成する？」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正直、Step 1 が 2026年7月に完成できるかが鍵 です。週次マイクロデリバラブルで進めるので、4週間ごとに軌道修正できます。遅れる場合は、Step 1 を伸ばして Step 2-3 を圧縮するか、スコープを縮める判断をします。ウォーターフォール型の硬直は避けられる設計です。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Q3：「Marc と被るんじゃない？」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ポジショニングが違います。Marc は Wide &amp; Fast、私は Middle &amp; Fast。Marc は ARCHECO の右側、私は左側。peer として情報交換するので、被るのではなく 二輪化 します。共通インフラ（環境・プロンプト技術）は共有して、ブランド固有データだけ別管理にします。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Q4：「英語の壁、本当に問題ないの？」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Slack ベースなので、Claude で翻訳しながら書けます。対面英語の即時性は不要。文書化された議論なら、私のほうが深く考えられます。Marc とのキャッチボールの議事録も日本語に翻訳して残します。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Q5：「Tier 1 cleanup ブランチはどうなる？」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feat/materials-tier1-cleanup に 保管済 です。Flywheel が落ち着いたら戻って完了させます（残：M1 logo整理 / M2 sections棚卸し）。今は Flywheel の方が事業インパクトが大きいので優先します。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Q6：「これ、いつ収益化される？」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MVP の外側の議論 です。Step 3 完成、2027 Q1 後にマルチブランド展開で他案件にも適用可能になります。ARCHECO 全体のデザイン生産性 10倍化 = 案件数増 = 収益増、というロジック。今は MVP 完成を最優先で、収益化計画は後段で詰めます。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Q7：「Learn 層を Step 1 から保護、具体的に何をする？」★Marc 反映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3つです：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 で失敗が出るたびに bugs.md に候補エントリ追加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同じ修正を2回説明したら、即ルール化（Marc の M2 原則）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bugs.md の追加件数を月1回可視化 して、停滞を検知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さらに、この金曜事業開発の「今週の Learn 進捗」を恒久発表項目 にします。</a:t>
            </a:r>
            <a:b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kumimoji="1" lang="ja-JP" altLang="ja-JP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Q8：「brand/fambox/CLAUDE.md って何が書いてある？」★Marc 反映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1ファイルで FAMBOX のすべての判断基準を集約しています。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Identity（ブランドの中核）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Surfaces（出力面の分類、9種類）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Rules（絶対に守るルール + 反例ペアリング）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AI/Human Boundary（誰が何を担当するか、4カテゴリ）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Vocabulary（重要用語）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Exclusions（絶対にやらないこと、過去失敗 A〜H）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Onboarding Flow（新メンバーの最初の30分）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テンプレ集（持ってこい資料 / Good-Bad / boundary 宣言 等）</a:t>
            </a:r>
            <a:b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Q9：「peer ネットワーク、実際の運用はどうなる？」★Marc 反映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Slack ベースの asynchronous + as-needed です。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詳細質問は手を動かす過程で都度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重要な学びは DECISIONS.md に追加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議事録は sessions/ に蓄積</a:t>
            </a:r>
          </a:p>
          <a:p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月1回くらい、レベル合わせのまとめ会も検討</a:t>
            </a:r>
          </a:p>
          <a:p>
            <a:endParaRPr kumimoji="1" lang="ja-JP" altLang="ja-JP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5128C-536B-C54F-97A7-8CD1E67D372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744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B4C15"/>
                </a:solidFill>
                <a:latin typeface="Yu Gothic UI"/>
              </a:rPr>
              <a:t>FAMBOX FLYWHEEL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B1D1A"/>
                </a:solidFill>
                <a:latin typeface="Yu Gothic UI"/>
              </a:rPr>
              <a:t>FAMBOX Design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0F2A5C"/>
                </a:solidFill>
                <a:latin typeface="Yu Gothic UI"/>
              </a:rPr>
              <a:t>Week 1 進捗共有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45655"/>
                </a:solidFill>
                <a:latin typeface="Yu Gothic UI"/>
              </a:rPr>
              <a:t>誰でも 7割の質のアウトプットを早く出せる、AI と Design の仕組みを作る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52160"/>
            <a:ext cx="457200" cy="45720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5852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2026-05-30  金曜事業開発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126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発表 / 宮川真道（ARCHECO）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6858000" y="0"/>
            <a:ext cx="5333695" cy="6858000"/>
          </a:xfrm>
          <a:prstGeom prst="rtTriangle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B1D1A"/>
                </a:solidFill>
                <a:latin typeface="Yu Gothic UI"/>
              </a:rPr>
              <a:t>誰でも 7割の質の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B1D1A"/>
                </a:solidFill>
                <a:latin typeface="Yu Gothic UI"/>
              </a:rPr>
              <a:t>アウトプットを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B4C15"/>
                </a:solidFill>
                <a:latin typeface="Yu Gothic UI"/>
              </a:rPr>
              <a:t>早く出せる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45655"/>
                </a:solidFill>
                <a:latin typeface="Yu Gothic UI"/>
              </a:rPr>
              <a:t>AI と Design の仕組み(インフラ)を作る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73152" cy="54864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1D1A"/>
                </a:solidFill>
                <a:latin typeface="Yu Gothic UI"/>
              </a:rPr>
              <a:t>Marc と同じ目標、領域だけ違う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Marc: Wide &amp; Fast  /  宮川: Middle &amp; Fast (FAM 群)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WEEK 1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B1D1A"/>
                </a:solidFill>
                <a:latin typeface="Yu Gothic UI"/>
              </a:rPr>
              <a:t>今週やったこと — 3つ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19"/>
            <a:ext cx="109728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520440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B4C15"/>
                </a:solidFill>
                <a:latin typeface="Yu Gothic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1D1A"/>
                </a:solidFill>
                <a:latin typeface="Yu Gothic UI"/>
              </a:rPr>
              <a:t>構想の言語化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434840"/>
            <a:ext cx="548640" cy="36576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2788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Purpose・Goal Image・3段階モデルを確定。</a:t>
            </a:r>
          </a:p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Middle &amp; Fast ポジショニングで</a:t>
            </a:r>
          </a:p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Marc と peer 関係を設計。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3774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2377440"/>
            <a:ext cx="3520440" cy="16459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F2A5C"/>
                </a:solidFill>
                <a:latin typeface="Yu Gothic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49039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1D1A"/>
                </a:solidFill>
                <a:latin typeface="Yu Gothic UI"/>
              </a:rPr>
              <a:t>永続化基盤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4434840"/>
            <a:ext cx="548640" cy="36576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4663440"/>
            <a:ext cx="2788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docs/okr/fambox-flywheel/ に</a:t>
            </a:r>
          </a:p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プロジェクト全体を整備。</a:t>
            </a:r>
          </a:p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意思決定 25 / 議事録 / 進捗管理。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377440"/>
            <a:ext cx="3520440" cy="164592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2788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3DB8E8"/>
                </a:solidFill>
                <a:latin typeface="Yu Gothic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39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1D1A"/>
                </a:solidFill>
                <a:latin typeface="Yu Gothic UI"/>
              </a:rPr>
              <a:t>環境棚卸し + Marc 接続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4434840"/>
            <a:ext cx="548640" cy="36576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4663440"/>
            <a:ext cx="2788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DS v0.5 / bugs.md / LPB v4.1 /</a:t>
            </a:r>
          </a:p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Brand DNA / Skills 19本を文書化。</a:t>
            </a:r>
          </a:p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Marc に共有 → 深いレビュー獲得。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→ 詳しくは docs/okr/fambox-flywheel/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 UI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FFFFFF"/>
                </a:solidFill>
                <a:latin typeface="Yu Gothic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01168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B4C15"/>
                </a:solidFill>
                <a:latin typeface="Yu Gothic UI"/>
              </a:rPr>
              <a:t>今週の最大の収穫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560320"/>
            <a:ext cx="6217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B1D1A"/>
                </a:solidFill>
                <a:latin typeface="Yu Gothic UI"/>
              </a:rPr>
              <a:t>Marc との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474720"/>
            <a:ext cx="6217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B1D1A"/>
                </a:solidFill>
                <a:latin typeface="Yu Gothic UI"/>
              </a:rPr>
              <a:t>peer 関係構築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4572000"/>
            <a:ext cx="137160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4846320"/>
            <a:ext cx="62179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45655"/>
                </a:solidFill>
                <a:latin typeface="Yu Gothic UI"/>
              </a:rPr>
              <a:t>Slack で構想共有 →</a:t>
            </a:r>
          </a:p>
          <a:p>
            <a:pPr algn="l"/>
            <a:r>
              <a:rPr sz="1600" b="0">
                <a:solidFill>
                  <a:srgbClr val="545655"/>
                </a:solidFill>
                <a:latin typeface="Yu Gothic UI"/>
              </a:rPr>
              <a:t>1日でディープなレビュー →</a:t>
            </a:r>
          </a:p>
          <a:p>
            <a:pPr algn="l"/>
            <a:r>
              <a:rPr sz="1600" b="0">
                <a:solidFill>
                  <a:srgbClr val="545655"/>
                </a:solidFill>
                <a:latin typeface="Yu Gothic UI"/>
              </a:rPr>
              <a:t>5 つの改善提案 → 全部反映済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MARC PEER REVIEW —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B1D1A"/>
                </a:solidFill>
                <a:latin typeface="Yu Gothic UI"/>
              </a:rPr>
              <a:t>Marc がそのまま使えると評価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45655"/>
                </a:solidFill>
                <a:latin typeface="Yu Gothic UI"/>
              </a:rPr>
              <a:t>「自分も採用したい」3つの要素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9728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3520440" cy="3657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3520440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B4C15"/>
                </a:solidFill>
                <a:latin typeface="Yu Gothic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B1D1A"/>
                </a:solidFill>
                <a:latin typeface="Yu Gothic UI"/>
              </a:rPr>
              <a:t>Brand / Engine /</a:t>
            </a:r>
          </a:p>
          <a:p>
            <a:pPr algn="l"/>
            <a:r>
              <a:rPr sz="1600" b="1" dirty="0">
                <a:solidFill>
                  <a:srgbClr val="1B1D1A"/>
                </a:solidFill>
                <a:latin typeface="Yu Gothic UI"/>
              </a:rPr>
              <a:t>Data </a:t>
            </a:r>
            <a:r>
              <a:rPr sz="1600" b="1" dirty="0" err="1">
                <a:solidFill>
                  <a:srgbClr val="1B1D1A"/>
                </a:solidFill>
                <a:latin typeface="Yu Gothic UI"/>
              </a:rPr>
              <a:t>分離</a:t>
            </a:r>
            <a:endParaRPr sz="1600" b="1" dirty="0">
              <a:solidFill>
                <a:srgbClr val="1B1D1A"/>
              </a:solidFill>
              <a:latin typeface="Yu Gothic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4983480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「excellent」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— Marc</a:t>
            </a:r>
          </a:p>
          <a:p>
            <a:pPr algn="l"/>
            <a:endParaRPr sz="1000" b="0">
              <a:solidFill>
                <a:srgbClr val="545655"/>
              </a:solidFill>
              <a:latin typeface="Yu Gothic UI"/>
            </a:endParaRP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3 層アーキテクチャは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Marc 自身が Archeco で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構築中の構造と一致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606040"/>
            <a:ext cx="3520440" cy="3657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2606040"/>
            <a:ext cx="3520440" cy="16459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30175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F2A5C"/>
                </a:solidFill>
                <a:latin typeface="Yu Gothic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9476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1D1A"/>
                </a:solidFill>
                <a:latin typeface="Yu Gothic UI"/>
              </a:rPr>
              <a:t>D-NNN</a:t>
            </a:r>
          </a:p>
          <a:p>
            <a:pPr algn="l"/>
            <a:r>
              <a:rPr sz="1600" b="1">
                <a:solidFill>
                  <a:srgbClr val="1B1D1A"/>
                </a:solidFill>
                <a:latin typeface="Yu Gothic UI"/>
              </a:rPr>
              <a:t>意思決定ログ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983480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「自分のより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構造化されている」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— Marc</a:t>
            </a:r>
          </a:p>
          <a:p>
            <a:pPr algn="l"/>
            <a:endParaRPr sz="1000" b="0">
              <a:solidFill>
                <a:srgbClr val="545655"/>
              </a:solidFill>
              <a:latin typeface="Yu Gothic UI"/>
            </a:endParaRP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Archeco の EXTERNAL-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INFLUENCES.md に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参考候補追加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606040"/>
            <a:ext cx="3520440" cy="3657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606040"/>
            <a:ext cx="3520440" cy="164592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30175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3DB8E8"/>
                </a:solidFill>
                <a:latin typeface="Yu Gothic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79476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1D1A"/>
                </a:solidFill>
                <a:latin typeface="Yu Gothic UI"/>
              </a:rPr>
              <a:t>bugs.md</a:t>
            </a:r>
          </a:p>
          <a:p>
            <a:pPr algn="l"/>
            <a:r>
              <a:rPr sz="1600" b="1">
                <a:solidFill>
                  <a:srgbClr val="1B1D1A"/>
                </a:solidFill>
                <a:latin typeface="Yu Gothic UI"/>
              </a:rPr>
              <a:t>（28 規律）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983480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「the real Learn loop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lives there」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— Marc</a:t>
            </a:r>
          </a:p>
          <a:p>
            <a:pPr algn="l"/>
            <a:endParaRPr sz="1000" b="0">
              <a:solidFill>
                <a:srgbClr val="545655"/>
              </a:solidFill>
              <a:latin typeface="Yu Gothic UI"/>
            </a:endParaRP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FAMBOX 品質の中核と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Marc が最重要視。</a:t>
            </a:r>
          </a:p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失敗 → ルール化のループ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MARC PEER REVIEW — ADOPTED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B1D1A"/>
                </a:solidFill>
                <a:latin typeface="Yu Gothic UI"/>
              </a:rPr>
              <a:t>Marc の改善提案 → 全部今日中に反映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45655"/>
                </a:solidFill>
                <a:latin typeface="Yu Gothic UI"/>
              </a:rPr>
              <a:t>5 つの新決定（D-021 〜 D-025）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9728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2157984" cy="4114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2157984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B4C15"/>
                </a:solidFill>
                <a:latin typeface="Yu Gothic UI"/>
              </a:rPr>
              <a:t>D-021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AI/Human</a:t>
            </a:r>
          </a:p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カテゴリ化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434840"/>
            <a:ext cx="457200" cy="2743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17007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70% / 30% パーセンテージから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「AI proposes /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Human validates /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adjusts / decides」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カテゴリベースへ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4096" y="2240280"/>
            <a:ext cx="2157984" cy="4114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54096" y="2240280"/>
            <a:ext cx="2157984" cy="16459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82696" y="260604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5C"/>
                </a:solidFill>
                <a:latin typeface="Yu Gothic UI"/>
              </a:rPr>
              <a:t>D-022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3200400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Learn 層</a:t>
            </a:r>
          </a:p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Step 1 から保護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2696" y="4434840"/>
            <a:ext cx="457200" cy="2743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2696" y="4617720"/>
            <a:ext cx="17007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「速くなるが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学習しなくなる」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リスクへの対策。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金曜発表に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「今週の Learn 進捗」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恒久項目化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6672" y="2240280"/>
            <a:ext cx="2157984" cy="4114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76672" y="2240280"/>
            <a:ext cx="2157984" cy="164592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5272" y="260604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B8E8"/>
                </a:solidFill>
                <a:latin typeface="Yu Gothic UI"/>
              </a:rPr>
              <a:t>D-023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3200400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DNA</a:t>
            </a:r>
          </a:p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Evolution</a:t>
            </a:r>
          </a:p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Triggers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05272" y="4434840"/>
            <a:ext cx="457200" cy="27432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05272" y="4617720"/>
            <a:ext cx="17007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v1.0 化石化防止。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「いつ v1.1 / v2.0 に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上げるか」を明文化。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半年に1回検査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9248" y="2240280"/>
            <a:ext cx="2157984" cy="4114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99248" y="2240280"/>
            <a:ext cx="2157984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7848" y="260604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B4C15"/>
                </a:solidFill>
                <a:latin typeface="Yu Gothic UI"/>
              </a:rPr>
              <a:t>D-024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3200400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brand/fambox/</a:t>
            </a:r>
          </a:p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CLAUDE.md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7848" y="4434840"/>
            <a:ext cx="457200" cy="2743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27848" y="4617720"/>
            <a:ext cx="17007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Marc の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_TEMPLATE/CLAUDE.md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パターン採用。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本日 v0.1 作成済。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非デザイナーの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読む単一ファイル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1824" y="2240280"/>
            <a:ext cx="2157984" cy="4114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21824" y="2240280"/>
            <a:ext cx="2157984" cy="16459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50424" y="260604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5C"/>
                </a:solidFill>
                <a:latin typeface="Yu Gothic UI"/>
              </a:rPr>
              <a:t>D-025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0424" y="3200400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Marc</a:t>
            </a:r>
          </a:p>
          <a:p>
            <a:pPr algn="l"/>
            <a:r>
              <a:rPr sz="1300" b="1">
                <a:solidFill>
                  <a:srgbClr val="1B1D1A"/>
                </a:solidFill>
                <a:latin typeface="Yu Gothic UI"/>
              </a:rPr>
              <a:t>コラボ受諾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50424" y="4434840"/>
            <a:ext cx="457200" cy="2743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50424" y="4617720"/>
            <a:ext cx="17007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Archeco repo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read 権限獲得。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v7.32〜v7.37 の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最新仕様を</a:t>
            </a:r>
          </a:p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直接学習可能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→ 詳細は docs/okr/fambox-flywheel/DECISIONS.md  D-021〜D-025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0" b="1">
                <a:solidFill>
                  <a:srgbClr val="FB4C15"/>
                </a:solidFill>
                <a:latin typeface="Yu Gothic U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71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FROM MARC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92024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B1D1A"/>
                </a:solidFill>
                <a:latin typeface="Yu Gothic UI"/>
              </a:rPr>
              <a:t>Different problems,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60604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1B1D1A"/>
                </a:solidFill>
                <a:latin typeface="Yu Gothic UI"/>
              </a:rPr>
              <a:t>but all orbiting the same challenge: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474720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B4C15"/>
                </a:solidFill>
                <a:latin typeface="Yu Gothic UI"/>
              </a:rPr>
              <a:t>making decisions explicit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297680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B4C15"/>
                </a:solidFill>
                <a:latin typeface="Yu Gothic UI"/>
              </a:rPr>
              <a:t>and transmissible.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5486400"/>
            <a:ext cx="1371600" cy="54864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56692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1D1A"/>
                </a:solidFill>
                <a:latin typeface="Yu Gothic UI"/>
              </a:rPr>
              <a:t>Marc-Antoine Lecat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0350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ARCHECO / 2026-05-28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4008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→ 3つのシステムが補完関係で進化（宮川 / 稲井 / Marc）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B1D1A"/>
                </a:solidFill>
                <a:latin typeface="Yu Gothic UI"/>
              </a:rPr>
              <a:t>ポジショニング — Middle &amp;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45655"/>
                </a:solidFill>
                <a:latin typeface="Yu Gothic UI"/>
              </a:rPr>
              <a:t>Marc とは領域が違うだけ、目標は同じ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9728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5440680" cy="4572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2491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 UI"/>
              </a:rPr>
              <a:t>Marc-Antoine Lecat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5440680" cy="34747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5C"/>
                </a:solidFill>
                <a:latin typeface="Yu Gothic UI"/>
              </a:rPr>
              <a:t>Wide &amp;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1D1A"/>
                </a:solidFill>
                <a:latin typeface="Yu Gothic UI"/>
              </a:rPr>
              <a:t>多サービスに浅く広く、量産プロトタイプ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多数サービスを横断するシステム化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79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テンプレ・パターンで秒生成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明文化された型を共有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23559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ARCHECO 右側（パンケーキ・新規）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651760"/>
            <a:ext cx="5440680" cy="45720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272491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 UI"/>
              </a:rPr>
              <a:t>宮川（私）★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108960"/>
            <a:ext cx="5440680" cy="34747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3383280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B4C15"/>
                </a:solidFill>
                <a:latin typeface="Yu Gothic UI"/>
              </a:rPr>
              <a:t>Middle &amp;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0233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1D1A"/>
                </a:solidFill>
                <a:latin typeface="Yu Gothic UI"/>
              </a:rPr>
              <a:t>FAM など関連ブランド群に深く、ただし速く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6634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1ブランド固定でなく関連群（FAM / 将来）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983479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Marc の環境・プロンプト技術を翻訳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30352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FAM の暗黙知を明文化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5623559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45655"/>
                </a:solidFill>
                <a:latin typeface="Yu Gothic UI"/>
              </a:rPr>
              <a:t>• ARCHECO 左側（FAM 01・既存）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6751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共通：環境・プロンプト技術を共有。ブランド固有データだけ別管理。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3-STEP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B1D1A"/>
                </a:solidFill>
                <a:latin typeface="Yu Gothic UI"/>
              </a:rPr>
              <a:t>3段階モデル — Step 1 から積み上げる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45655"/>
                </a:solidFill>
                <a:latin typeface="Yu Gothic UI"/>
              </a:rPr>
              <a:t>須藤さん提案を採用。「3段階目から始めない」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9728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3520440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B4C15"/>
                </a:solidFill>
                <a:latin typeface="Yu Gothic U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B1D1A"/>
                </a:solidFill>
                <a:latin typeface="Yu Gothic UI"/>
              </a:rPr>
              <a:t>私個人のインフラ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45655"/>
                </a:solidFill>
                <a:latin typeface="Yu Gothic UI"/>
              </a:rPr>
              <a:t>〜 2026-07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800600"/>
            <a:ext cx="548640" cy="36576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2788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10倍速で作れる状態。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Marc から環境・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プロンプト技術を学び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FAM 用に翻訳。</a:t>
            </a:r>
          </a:p>
          <a:p>
            <a:pPr algn="l"/>
            <a:endParaRPr sz="1100" b="0">
              <a:solidFill>
                <a:srgbClr val="545655"/>
              </a:solidFill>
              <a:latin typeface="Yu Gothic UI"/>
            </a:endParaRP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• AI proposes 70%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• Human validates 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6060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2606040"/>
            <a:ext cx="3520440" cy="16459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2A5C"/>
                </a:solidFill>
                <a:latin typeface="Yu Gothic U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204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B1D1A"/>
                </a:solidFill>
                <a:latin typeface="Yu Gothic UI"/>
              </a:rPr>
              <a:t>指示書ドライブ運用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3891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45655"/>
                </a:solidFill>
                <a:latin typeface="Yu Gothic UI"/>
              </a:rPr>
              <a:t>〜 2026-10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4800600"/>
            <a:ext cx="548640" cy="36576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4937760"/>
            <a:ext cx="2788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須藤・松浦・三宅・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マレル・安原さんが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Slack で指示書を書く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→ 数時間で初稿。</a:t>
            </a:r>
          </a:p>
          <a:p>
            <a:pPr algn="l"/>
            <a:endParaRPr sz="1100" b="0">
              <a:solidFill>
                <a:srgbClr val="545655"/>
              </a:solidFill>
              <a:latin typeface="Yu Gothic UI"/>
            </a:endParaRP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• Standard 形式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• 週5件想定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060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2606040"/>
            <a:ext cx="3520440" cy="164592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DB8E8"/>
                </a:solidFill>
                <a:latin typeface="Yu Gothic U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5204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B1D1A"/>
                </a:solidFill>
                <a:latin typeface="Yu Gothic UI"/>
              </a:rPr>
              <a:t>誰でも使える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3891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45655"/>
                </a:solidFill>
                <a:latin typeface="Yu Gothic UI"/>
              </a:rPr>
              <a:t>〜 2027-Q1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4800600"/>
            <a:ext cx="548640" cy="36576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4937760"/>
            <a:ext cx="2788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Flywheel MVP 完成。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7割の質が誰でも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早く出せる。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3割は各人が詰める。</a:t>
            </a:r>
          </a:p>
          <a:p>
            <a:pPr algn="l"/>
            <a:endParaRPr sz="1100" b="0">
              <a:solidFill>
                <a:srgbClr val="545655"/>
              </a:solidFill>
              <a:latin typeface="Yu Gothic UI"/>
            </a:endParaRP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= 事業のスケール上限を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外す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274820" y="4389120"/>
            <a:ext cx="182880" cy="274320"/>
          </a:xfrm>
          <a:prstGeom prst="rightArrow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8023860" y="4389120"/>
            <a:ext cx="182880" cy="274320"/>
          </a:xfrm>
          <a:prstGeom prst="rightArrow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★ 今週は Step 1 のスタート地点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WEEK 2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B1D1A"/>
                </a:solidFill>
                <a:latin typeface="Yu Gothic UI"/>
              </a:rPr>
              <a:t>Week 2 コミット（2026-06-01 〜 06-05）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45655"/>
                </a:solidFill>
                <a:latin typeface="Yu Gothic UI"/>
              </a:rPr>
              <a:t>実案件着手。Before / After の実例を見せる週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9728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3520440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B4C15"/>
                </a:solidFill>
                <a:latin typeface="Yu Gothic UI"/>
              </a:rPr>
              <a:t>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1D1A"/>
                </a:solidFill>
                <a:latin typeface="Yu Gothic UI"/>
              </a:rPr>
              <a:t>Marc Archeco repo</a:t>
            </a:r>
          </a:p>
          <a:p>
            <a:pPr algn="l"/>
            <a:r>
              <a:rPr sz="1700" b="1">
                <a:solidFill>
                  <a:srgbClr val="1B1D1A"/>
                </a:solidFill>
                <a:latin typeface="Yu Gothic UI"/>
              </a:rPr>
              <a:t>読み込み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937760"/>
            <a:ext cx="548640" cy="36576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074920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コラボ招待が来たら受諾。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Surfaces 概念 + 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_TEMPLATE/CLAUDE.md を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読んで、FAMBOX の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CLAUDE.md v0.2 へ進化。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6060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2606040"/>
            <a:ext cx="3520440" cy="16459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2A5C"/>
                </a:solidFill>
                <a:latin typeface="Yu Gothic UI"/>
              </a:rPr>
              <a:t>火-木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61188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1D1A"/>
                </a:solidFill>
                <a:latin typeface="Yu Gothic UI"/>
              </a:rPr>
              <a:t>法人ページ 1セクション</a:t>
            </a:r>
          </a:p>
          <a:p>
            <a:pPr algn="l"/>
            <a:r>
              <a:rPr sz="1700" b="1">
                <a:solidFill>
                  <a:srgbClr val="1B1D1A"/>
                </a:solidFill>
                <a:latin typeface="Yu Gothic UI"/>
              </a:rPr>
              <a:t>AI パイプライン制作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4937760"/>
            <a:ext cx="548640" cy="36576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5074920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松浦さんと相談して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セクション選定。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AI で初稿生成 →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制作時間ログ取得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(Before / After)。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606040"/>
            <a:ext cx="352044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606040"/>
            <a:ext cx="3520440" cy="164592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DB8E8"/>
                </a:solidFill>
                <a:latin typeface="Yu Gothic UI"/>
              </a:rPr>
              <a:t>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1188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1D1A"/>
                </a:solidFill>
                <a:latin typeface="Yu Gothic UI"/>
              </a:rPr>
              <a:t>Before / After 報告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937760"/>
            <a:ext cx="548640" cy="36576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5074920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事業開発で発表：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「○時間 → ○時間に短縮」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の実例を見せる。</a:t>
            </a:r>
          </a:p>
          <a:p>
            <a:pPr algn="l"/>
            <a:endParaRPr sz="1100" b="0">
              <a:solidFill>
                <a:srgbClr val="545655"/>
              </a:solidFill>
              <a:latin typeface="Yu Gothic UI"/>
            </a:endParaRP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Learn 進捗も恒久項目で</a:t>
            </a:r>
          </a:p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報告開始。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2A5C"/>
                </a:solidFill>
                <a:latin typeface="Yu Gothic UI"/>
              </a:rPr>
              <a:t>→ Slack で「これ作って」依頼があれば Step 2 試作の起点に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Q&amp;A PREPARED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B1D1A"/>
                </a:solidFill>
                <a:latin typeface="Yu Gothic UI"/>
              </a:rPr>
              <a:t>想定 Q&amp;A — 9件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45655"/>
                </a:solidFill>
                <a:latin typeface="Yu Gothic UI"/>
              </a:rPr>
              <a:t>詳細回答は friday-presentation v2 §6 参照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97280" cy="54864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640080" cy="36576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73405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75234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マレルチームは結局どこで関わる？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36392"/>
            <a:ext cx="640080" cy="36576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729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9125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3段階モデル、本当に2027 Q1 完成？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75304"/>
            <a:ext cx="640080" cy="36576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630168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Marc と被るんじゃない？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14216"/>
            <a:ext cx="640080" cy="36576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5079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690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英語の壁、本当に問題ない？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53128"/>
            <a:ext cx="640080" cy="36576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8970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50799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Tier 1 cleanup ブランチは？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697480"/>
            <a:ext cx="640080" cy="36576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73405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75234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これ、いつ収益化される？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136392"/>
            <a:ext cx="640080" cy="365760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1729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9125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Learn 層 Step 1 から、具体的に？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319125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DB8E8"/>
                </a:solidFill>
                <a:latin typeface="Yu Gothic UI"/>
              </a:rPr>
              <a:t>★ NEW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575304"/>
            <a:ext cx="640080" cy="365760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6118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30168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brand/fambox/CLAUDE.md とは？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363016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DB8E8"/>
                </a:solidFill>
                <a:latin typeface="Yu Gothic UI"/>
              </a:rPr>
              <a:t>★ NEW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014216"/>
            <a:ext cx="640080" cy="365760"/>
          </a:xfrm>
          <a:prstGeom prst="rect">
            <a:avLst/>
          </a:prstGeom>
          <a:solidFill>
            <a:srgbClr val="3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405079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Q9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0690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1D1A"/>
                </a:solidFill>
                <a:latin typeface="Yu Gothic UI"/>
              </a:rPr>
              <a:t>peer ネットワーク、運用は？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40690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DB8E8"/>
                </a:solidFill>
                <a:latin typeface="Yu Gothic UI"/>
              </a:rPr>
              <a:t>★ NEW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212080"/>
            <a:ext cx="10698480" cy="1280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B4C15"/>
                </a:solidFill>
                <a:latin typeface="Yu Gothic UI"/>
              </a:rPr>
              <a:t>特に深掘りされそうな質問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1D1A"/>
                </a:solidFill>
                <a:latin typeface="Yu Gothic UI"/>
              </a:rPr>
              <a:t>Q7「Learn 層具体策」 → bugs.md 追加 / 2回でルール化 / 月1可視化 + 金曜恒久発表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1D1A"/>
                </a:solidFill>
                <a:latin typeface="Yu Gothic UI"/>
              </a:rPr>
              <a:t>Q8「CLAUDE.md」 → Identity / Surfaces / Hard Rules / AI-Human Boundary / Vocab / Exclusions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45655"/>
                </a:solidFill>
                <a:latin typeface="Yu Gothic UI"/>
              </a:rPr>
              <a:t>★ NEW = Marc reply 受けて新規追加した質問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1371600"/>
            <a:ext cx="5029200" cy="4572000"/>
          </a:xfrm>
          <a:prstGeom prst="rect">
            <a:avLst/>
          </a:prstGeom>
          <a:solidFill>
            <a:srgbClr val="FB4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B4C15"/>
                </a:solidFill>
                <a:latin typeface="Yu Gothic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1B1D1A"/>
                </a:solidFill>
                <a:latin typeface="Yu Gothic UI"/>
              </a:rPr>
              <a:t>ご清聴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1B1D1A"/>
                </a:solidFill>
                <a:latin typeface="Yu Gothic UI"/>
              </a:rPr>
              <a:t>ありがとう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1B1D1A"/>
                </a:solidFill>
                <a:latin typeface="Yu Gothic UI"/>
              </a:rPr>
              <a:t>ございました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011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 UI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56032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Yu Gothic UI"/>
              </a:rPr>
              <a:t>質疑応答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657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Yu Gothic UI"/>
              </a:rPr>
              <a:t>想定 9件 + フリー質問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4297680"/>
            <a:ext cx="1371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4526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 UI"/>
              </a:rPr>
              <a:t>Slack：#int_ai でも継続歓迎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45655"/>
                </a:solidFill>
                <a:latin typeface="Yu Gothic UI"/>
              </a:rPr>
              <a:t>宮川真道 / ARCHECO / 2026-05-30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45655"/>
                </a:solidFill>
                <a:latin typeface="Yu Gothic UI"/>
              </a:rPr>
              <a:t>docs/okr/fambox-flywheel/ — 全ドキュメント公開中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1515</Words>
  <Application>Microsoft Macintosh PowerPoint</Application>
  <PresentationFormat>ワイド画面</PresentationFormat>
  <Paragraphs>278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Yu Gothic UI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Masamichi Miyakawa</cp:lastModifiedBy>
  <cp:revision>2</cp:revision>
  <dcterms:created xsi:type="dcterms:W3CDTF">2013-01-27T09:14:16Z</dcterms:created>
  <dcterms:modified xsi:type="dcterms:W3CDTF">2026-06-02T02:38:33Z</dcterms:modified>
  <cp:category/>
</cp:coreProperties>
</file>